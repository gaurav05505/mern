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67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with the brand: Sutra Khes reinvents Punjab's double-cloth Khes weaving as modern luxury home decor and a global heritage lifestyle brand.</a:t>
            </a:r>
          </a:p>
          <a:p>
            <a:r>
              <a:rPr lang="en-US"/>
              <a:t>Set the tone: the imagery and palette draw on 90s Punjabi folklore, household warmth and the geometry of double-woven cloth.</a:t>
            </a:r>
          </a:p>
          <a:p>
            <a:r>
              <a:rPr lang="en-US"/>
              <a:t>Frame the ask: this is a Venture Vault pitch for a heritage craft venture that keeps master pit-loom artisans at its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what traditional Khes is: a heavy double-layer cotton cloth woven by women on household pit-looms, traditionally gifted as part of a bride's daaj (dowry).</a:t>
            </a:r>
          </a:p>
          <a:p>
            <a:r>
              <a:rPr lang="en-US"/>
              <a:t>Point out the charkhana checks and damask patterns: the geometry is woven as one cloth, which makes the textile reversible and warm on both sides.</a:t>
            </a:r>
          </a:p>
          <a:p>
            <a:r>
              <a:rPr lang="en-US"/>
              <a:t>Stress the material roots: handspun organic cotton and natural dyes (indigo, turmeric, madder root) mean the original craft was already sustainable and low-waste.</a:t>
            </a:r>
          </a:p>
          <a:p>
            <a:r>
              <a:rPr lang="en-US"/>
              <a:t>Transition: the craft has everything luxury buyers want today, so why is it disappearing?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three problems left to right. The -85% pit-loom decline, 100% outdated perception and ZERO modern formats are the figures already on the slide.</a:t>
            </a:r>
          </a:p>
          <a:p>
            <a:r>
              <a:rPr lang="en-US"/>
              <a:t>Dying pit-looms: cheap synthetic fleece and power-loom imitations displaced rural master weavers and made the real craft uneconomical.</a:t>
            </a:r>
          </a:p>
          <a:p>
            <a:r>
              <a:rPr lang="en-US"/>
              <a:t>Outdated perception: younger buyers see Khes as heavy rural bedding, not a luxury collectible, so its design value goes unrecognised.</a:t>
            </a:r>
          </a:p>
          <a:p>
            <a:r>
              <a:rPr lang="en-US"/>
              <a:t>No modern formats: there are no lightweight, apartment-friendly throws, structured apparel or contemporary upholstery. Close on the opportunity box: the same qualities become premium once redesigned.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 the solution as three steps of growth, matching the numbered circles.</a:t>
            </a:r>
          </a:p>
          <a:p>
            <a:r>
              <a:rPr lang="en-US"/>
              <a:t>1. Luxury home decor: couch throws, reversible bed runners and cushion covers for minimalist interiors. This is the entry product line.</a:t>
            </a:r>
          </a:p>
          <a:p>
            <a:r>
              <a:rPr lang="en-US"/>
              <a:t>2. Wearable heritage apparel: unisex jackets, capes, winter wraps and structured totes, extending the double-cloth geometry into fashion.</a:t>
            </a:r>
          </a:p>
          <a:p>
            <a:r>
              <a:rPr lang="en-US"/>
              <a:t>3. Future global scalability: eco-certified hotel upholstery, Maison &amp; Objet exhibitions and international runways. Frame this as the long-term upside, not the launch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three segments in order of their role: margin, loyalty and volume.</a:t>
            </a:r>
          </a:p>
          <a:p>
            <a:r>
              <a:rPr lang="en-US"/>
              <a:t>NRI and Punjabi diaspora in Canada, UK, US and Australia: the primary high-margin segment, buying nostalgia and authentic heritage.</a:t>
            </a:r>
          </a:p>
          <a:p>
            <a:r>
              <a:rPr lang="en-US"/>
              <a:t>Ethical luxury shoppers: designers, architects and conscious buyers who value handloom authenticity and no synthetics; high lifetime value and repeat purchase.</a:t>
            </a:r>
          </a:p>
          <a:p>
            <a:r>
              <a:rPr lang="en-US"/>
              <a:t>Boutique resorts and B2B: heritage hotels, eco-resorts and design firms ordering custom throws, drapes and cushion sets in bulk.</a:t>
            </a:r>
          </a:p>
          <a:p>
            <a:r>
              <a:rPr lang="en-US"/>
              <a:t>Link forward: these segments map directly to the D2C, wholesale and hospitality channels on the financial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competitive edges, each with a proof point.</a:t>
            </a:r>
          </a:p>
          <a:p>
            <a:r>
              <a:rPr lang="en-US"/>
              <a:t>100% reversible weave: two colorways in one product, so one purchase does the work of two.</a:t>
            </a:r>
          </a:p>
          <a:p>
            <a:r>
              <a:rPr lang="en-US"/>
              <a:t>100% organic and natural dyes: herbal indigo, madder root red and turmeric yellow, with zero synthetic chemicals.</a:t>
            </a:r>
          </a:p>
          <a:p>
            <a:r>
              <a:rPr lang="en-US"/>
              <a:t>3x fair weaver wages: direct cluster sourcing removes brokers; artisans earn about Rs 810 per day versus Rs 270 market average.</a:t>
            </a:r>
          </a:p>
          <a:p>
            <a:r>
              <a:rPr lang="en-US"/>
              <a:t>Artisan traceability QR: every product links to the weaver profile, village cluster and loom location. Together these make the brand hard to imitate.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the three revenue streams: D2C e-commerce (60% of revenue, 68% margin), retail wholesale (25% share, 42% margin) and B2B hospitality (15% share, high LTV/CAC).</a:t>
            </a:r>
          </a:p>
          <a:p>
            <a:r>
              <a:rPr lang="en-US"/>
              <a:t>Use the table to show contribution = revenue share x margin: D2C contributes 40.8% and wholesale 10.5%, giving a blended 60.4% margin across the 85% of revenue shown.</a:t>
            </a:r>
          </a:p>
          <a:p>
            <a:r>
              <a:rPr lang="en-US"/>
              <a:t>Highlight the wages card: Rs 810 per day versus the Rs 270 market average, a Rs 540 per day premium, shows that profitability and fair pay go together.</a:t>
            </a:r>
          </a:p>
          <a:p>
            <a:r>
              <a:rPr lang="en-US"/>
              <a:t>Cite the benchmarks and sources in the footer if questioned: branded D2C handicraft margins of 60-70% and wholesale markups of 1.5-2x.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by restating the mission: preserve pit-loom craftsmanship while delivering sustainable luxury to global households and fair livelihoods to weavers.</a:t>
            </a:r>
          </a:p>
          <a:p>
            <a:r>
              <a:rPr lang="en-US"/>
              <a:t>Recap the three proof points: a heritage product with real market fit, a defensible edge (reversible, natural, fair, traceable) and a margin-positive channel mix.</a:t>
            </a:r>
          </a:p>
          <a:p>
            <a:r>
              <a:rPr lang="en-US"/>
              <a:t>Invite 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2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126" y="0"/>
            <a:ext cx="4923569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1259" y="1976126"/>
            <a:ext cx="6698734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VAULT  •  PUNJABI HANDLOOM REINVENTED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11259" y="2260823"/>
            <a:ext cx="6698734" cy="75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SUTRA KHES</a:t>
            </a:r>
            <a:endParaRPr lang="en-US" sz="6200" dirty="0"/>
          </a:p>
        </p:txBody>
      </p:sp>
      <p:sp>
        <p:nvSpPr>
          <p:cNvPr id="5" name="Text 2"/>
          <p:cNvSpPr txBox="1"/>
          <p:nvPr/>
        </p:nvSpPr>
        <p:spPr>
          <a:xfrm>
            <a:off x="611259" y="3282379"/>
            <a:ext cx="5358987" cy="83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Punjab's double-cloth geometric weaving into luxury home decor and a global heritage lifestyle brand, handwoven by master pit-loom artisans.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1259" y="4421164"/>
            <a:ext cx="6020487" cy="0"/>
          </a:xfrm>
          <a:prstGeom prst="line">
            <a:avLst/>
          </a:prstGeom>
          <a:noFill/>
          <a:ln w="9525">
            <a:solidFill>
              <a:srgbClr val="B570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259" y="4605379"/>
            <a:ext cx="5024050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CRAFT VENTURE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1259" y="4814715"/>
            <a:ext cx="60288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90s Punjabi folklore, household warmth, and the timeless geometry of double-woven cloth.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1259" y="485658"/>
            <a:ext cx="753607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HERITAGE &amp; ORIGIN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11259" y="703367"/>
            <a:ext cx="10885442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Original Idea: What Was Traditional Khes?</a:t>
            </a:r>
            <a:endParaRPr lang="en-US" sz="2800" dirty="0"/>
          </a:p>
        </p:txBody>
      </p:sp>
      <p:pic>
        <p:nvPicPr>
          <p:cNvPr id="4" name="Image 0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727" y="1674683"/>
            <a:ext cx="4186709" cy="401086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1259" y="1674683"/>
            <a:ext cx="6397291" cy="1197399"/>
          </a:xfrm>
          <a:prstGeom prst="roundRect">
            <a:avLst>
              <a:gd name="adj" fmla="val 9164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3127" y="1674683"/>
            <a:ext cx="6355424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0835" y="1925886"/>
            <a:ext cx="5861392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Bridal Heirloom &amp; Daaj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70835" y="2227329"/>
            <a:ext cx="586139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 woven by women on household pit-looms as an essential bridal dowry gift (daaj), each piece carrying ancestral blessings, family pride and good wishes into a new home.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1259" y="3081417"/>
            <a:ext cx="6397291" cy="1197399"/>
          </a:xfrm>
          <a:prstGeom prst="roundRect">
            <a:avLst>
              <a:gd name="adj" fmla="val 9164"/>
            </a:avLst>
          </a:prstGeom>
          <a:solidFill>
            <a:srgbClr val="D78D46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127" y="3081417"/>
            <a:ext cx="6355424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0835" y="3332620"/>
            <a:ext cx="5861392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D78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Charkhana &amp; Geometric Grids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70835" y="3634063"/>
            <a:ext cx="586139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Heavy-weight double-layer cotton checks (charkhana) and damask patterns woven as one cloth, giving complete double-sided reversible warmth and a bold geometric identity.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1259" y="4488152"/>
            <a:ext cx="6397291" cy="1197399"/>
          </a:xfrm>
          <a:prstGeom prst="roundRect">
            <a:avLst>
              <a:gd name="adj" fmla="val 9164"/>
            </a:avLst>
          </a:prstGeom>
          <a:solidFill>
            <a:srgbClr val="2E4A3E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127" y="4488152"/>
            <a:ext cx="6355424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0835" y="4739354"/>
            <a:ext cx="5861392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E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Material Roots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70835" y="5040797"/>
            <a:ext cx="586139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Handspun 100% organic cotton yarn dyed with natural indigo, turmeric, and madder root, using a low-impact, zero-waste process rooted in village self-reliance.</a:t>
            </a:r>
            <a:endParaRPr lang="en-US" sz="1200" dirty="0"/>
          </a:p>
        </p:txBody>
      </p:sp>
      <p:sp>
        <p:nvSpPr>
          <p:cNvPr id="100" name="Strip Accent"/>
          <p:cNvSpPr/>
          <p:nvPr/>
        </p:nvSpPr>
        <p:spPr>
          <a:xfrm>
            <a:off x="611259" y="5894000"/>
            <a:ext cx="10969177" cy="640000"/>
          </a:xfrm>
          <a:prstGeom prst="roundRect">
            <a:avLst>
              <a:gd name="adj" fmla="val 9164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1" name="Strip Card"/>
          <p:cNvSpPr/>
          <p:nvPr/>
        </p:nvSpPr>
        <p:spPr>
          <a:xfrm>
            <a:off x="653127" y="5894000"/>
            <a:ext cx="10927309" cy="640000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02" name="Text 102"/>
          <p:cNvSpPr txBox="1"/>
          <p:nvPr/>
        </p:nvSpPr>
        <p:spPr>
          <a:xfrm>
            <a:off x="870835" y="5894000"/>
            <a:ext cx="10450025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Khes is far more than bedding. It is a women-led, sustainable textile tradition whose geometry, reversibility and natural materials already match what modern luxury buyers look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1259" y="485658"/>
            <a:ext cx="753607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MARKET REALITY &amp; CRISIS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11259" y="703367"/>
            <a:ext cx="10885442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Today: Why Khes Needs Reinvention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1259" y="2093354"/>
            <a:ext cx="3500088" cy="2679493"/>
          </a:xfrm>
          <a:prstGeom prst="roundRect">
            <a:avLst>
              <a:gd name="adj" fmla="val 4095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1259" y="2135221"/>
            <a:ext cx="3500088" cy="2637626"/>
          </a:xfrm>
          <a:prstGeom prst="roundRect">
            <a:avLst>
              <a:gd name="adj" fmla="val 416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9209" y="2445038"/>
            <a:ext cx="3014430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-85%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79209" y="3215392"/>
            <a:ext cx="3014430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Dying Pit-Looms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79209" y="3583822"/>
            <a:ext cx="2972563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synthetic fleece and power-loom copies flooded markets, displacing rural master weavers and silencing their pit-looms.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5803" y="2093354"/>
            <a:ext cx="3500088" cy="2679493"/>
          </a:xfrm>
          <a:prstGeom prst="roundRect">
            <a:avLst>
              <a:gd name="adj" fmla="val 4095"/>
            </a:avLst>
          </a:prstGeom>
          <a:solidFill>
            <a:srgbClr val="D78D46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5803" y="2135221"/>
            <a:ext cx="3500088" cy="2637626"/>
          </a:xfrm>
          <a:prstGeom prst="roundRect">
            <a:avLst>
              <a:gd name="adj" fmla="val 416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3753" y="2445038"/>
            <a:ext cx="3014430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D78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13753" y="3215392"/>
            <a:ext cx="3014430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Outdated Perception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3753" y="3583822"/>
            <a:ext cx="2972563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buyers see Khes as heavy rural bedding rather than a luxury collectible accent, so its design value goes unrecognised.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0347" y="2093354"/>
            <a:ext cx="3500088" cy="2679493"/>
          </a:xfrm>
          <a:prstGeom prst="roundRect">
            <a:avLst>
              <a:gd name="adj" fmla="val 4095"/>
            </a:avLst>
          </a:prstGeom>
          <a:solidFill>
            <a:srgbClr val="2E4A3E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80347" y="2135221"/>
            <a:ext cx="3500088" cy="2637626"/>
          </a:xfrm>
          <a:prstGeom prst="roundRect">
            <a:avLst>
              <a:gd name="adj" fmla="val 416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48297" y="2445038"/>
            <a:ext cx="3014430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348297" y="3215392"/>
            <a:ext cx="3014430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Formats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48297" y="3583822"/>
            <a:ext cx="2972563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lightweight apartment-friendly throws, structured apparel or contemporary upholstery exist to bring Khes into modern homes.</a:t>
            </a:r>
            <a:endParaRPr lang="en-US" sz="1400" dirty="0"/>
          </a:p>
        </p:txBody>
      </p:sp>
      <p:sp>
        <p:nvSpPr>
          <p:cNvPr id="100" name="Strip Accent"/>
          <p:cNvSpPr/>
          <p:nvPr/>
        </p:nvSpPr>
        <p:spPr>
          <a:xfrm>
            <a:off x="611259" y="5000000"/>
            <a:ext cx="10969177" cy="640000"/>
          </a:xfrm>
          <a:prstGeom prst="roundRect">
            <a:avLst>
              <a:gd name="adj" fmla="val 9164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1" name="Strip Card"/>
          <p:cNvSpPr/>
          <p:nvPr/>
        </p:nvSpPr>
        <p:spPr>
          <a:xfrm>
            <a:off x="653127" y="5000000"/>
            <a:ext cx="10927309" cy="640000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02" name="Text 102"/>
          <p:cNvSpPr txBox="1"/>
          <p:nvPr/>
        </p:nvSpPr>
        <p:spPr>
          <a:xfrm>
            <a:off x="870835" y="5000000"/>
            <a:ext cx="10450025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</a:t>
            </a: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qualities that made Khes obsolete in rural markets (heavy, handmade, reversible) become premium attributes once the cloth is redesigned into lighter, contemporary formats for urban and international buyers.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1259" y="485658"/>
            <a:ext cx="753607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THE SOLUTION &amp;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11259" y="703367"/>
            <a:ext cx="10885442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Sutra Khes: Redesigned Product &amp; Future Potential</a:t>
            </a:r>
            <a:endParaRPr lang="en-US" sz="2800" dirty="0"/>
          </a:p>
        </p:txBody>
      </p:sp>
      <p:pic>
        <p:nvPicPr>
          <p:cNvPr id="4" name="Image 0" descr="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59" y="1674683"/>
            <a:ext cx="4186709" cy="401086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83145" y="1791911"/>
            <a:ext cx="401924" cy="401924"/>
          </a:xfrm>
          <a:prstGeom prst="ellipse">
            <a:avLst/>
          </a:prstGeom>
          <a:solidFill>
            <a:srgbClr val="8B25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83145" y="1791911"/>
            <a:ext cx="401924" cy="401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786031" y="1791911"/>
            <a:ext cx="5777658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Home Decor Line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786031" y="2110101"/>
            <a:ext cx="577765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couch throws, reversible bed runners, and geometric cushion covers tailored for minimalist global interiors, bringing double-cloth warmth to lightweight, apartment-friendly living.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83145" y="3198645"/>
            <a:ext cx="401924" cy="401924"/>
          </a:xfrm>
          <a:prstGeom prst="ellipse">
            <a:avLst/>
          </a:prstGeom>
          <a:solidFill>
            <a:srgbClr val="D78D4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183145" y="3198645"/>
            <a:ext cx="401924" cy="401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786031" y="3198645"/>
            <a:ext cx="5777658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Wearable Heritage Apparel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786031" y="3516835"/>
            <a:ext cx="577765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Unisex tailored jackets, capes, winter wraps, and structured tote bags that carry the double-cloth geometry from the home into everyday and runway-ready fashion.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83145" y="4605379"/>
            <a:ext cx="401924" cy="401924"/>
          </a:xfrm>
          <a:prstGeom prst="ellipse">
            <a:avLst/>
          </a:prstGeom>
          <a:solidFill>
            <a:srgbClr val="2E4A3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183145" y="4605379"/>
            <a:ext cx="401924" cy="401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86031" y="4605379"/>
            <a:ext cx="5777658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Global Scalability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86031" y="4923569"/>
            <a:ext cx="577765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into eco-certified luxury hotel upholstery, Maison &amp; Objet exhibitions, and international fashion runways to build a global heritage lifestyle brand.</a:t>
            </a:r>
            <a:endParaRPr lang="en-US" sz="1400" dirty="0"/>
          </a:p>
        </p:txBody>
      </p:sp>
      <p:sp>
        <p:nvSpPr>
          <p:cNvPr id="100" name="Strip Accent"/>
          <p:cNvSpPr/>
          <p:nvPr/>
        </p:nvSpPr>
        <p:spPr>
          <a:xfrm>
            <a:off x="611259" y="5894000"/>
            <a:ext cx="10969177" cy="640000"/>
          </a:xfrm>
          <a:prstGeom prst="roundRect">
            <a:avLst>
              <a:gd name="adj" fmla="val 9164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1" name="Strip Card"/>
          <p:cNvSpPr/>
          <p:nvPr/>
        </p:nvSpPr>
        <p:spPr>
          <a:xfrm>
            <a:off x="653127" y="5894000"/>
            <a:ext cx="10927309" cy="640000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02" name="Text 102"/>
          <p:cNvSpPr txBox="1"/>
          <p:nvPr/>
        </p:nvSpPr>
        <p:spPr>
          <a:xfrm>
            <a:off x="870835" y="5894000"/>
            <a:ext cx="10450025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heirloom to brand: </a:t>
            </a: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home decor to build recognition, extend into apparel and accessories for wider reach, then scale into hospitality upholstery and global design platforms.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1259" y="485658"/>
            <a:ext cx="753607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MARKET SEGMENTATION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11259" y="703367"/>
            <a:ext cx="10885442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Market Breakdown</a:t>
            </a:r>
            <a:endParaRPr lang="en-US" sz="2800" dirty="0"/>
          </a:p>
        </p:txBody>
      </p:sp>
      <p:pic>
        <p:nvPicPr>
          <p:cNvPr id="4" name="Image 0" descr="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316" y="1674683"/>
            <a:ext cx="3994120" cy="401086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1259" y="1674683"/>
            <a:ext cx="6665240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3127" y="1674683"/>
            <a:ext cx="6623373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0835" y="1842152"/>
            <a:ext cx="619632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HIGH-MARGIN SEGMENT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70835" y="2026367"/>
            <a:ext cx="6196329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NRI &amp; Punjabi Diaspora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70835" y="2344557"/>
            <a:ext cx="6154462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diaspora families in Canada, UK, US, and Australia seeking authentic, nostalgic heritage textiles that connect their homes to Punjab.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1259" y="3081417"/>
            <a:ext cx="6665240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127" y="3081417"/>
            <a:ext cx="6623373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0835" y="3248886"/>
            <a:ext cx="619632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78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LTV REPEAT BUYERS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70835" y="3433101"/>
            <a:ext cx="6196329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Luxury Shoppers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70835" y="3751291"/>
            <a:ext cx="6154462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design enthusiasts, architects, and conscious buyers valuing handloom authenticity, zero synthetics, and a traceable story behind every piece.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1259" y="4488152"/>
            <a:ext cx="6665240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127" y="4488152"/>
            <a:ext cx="6623373" cy="1197399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0835" y="4655620"/>
            <a:ext cx="619632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VOLUME CONTRACTS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70835" y="4839835"/>
            <a:ext cx="6196329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Boutique Resorts &amp; B2B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70835" y="5158025"/>
            <a:ext cx="6154462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hotels, eco-resorts, and interior design firms requiring custom woven throws, drapes, and cushion sets supplied in bulk on repeat contracts.</a:t>
            </a:r>
            <a:endParaRPr lang="en-US" sz="1200" dirty="0"/>
          </a:p>
        </p:txBody>
      </p:sp>
      <p:sp>
        <p:nvSpPr>
          <p:cNvPr id="100" name="Strip Accent"/>
          <p:cNvSpPr/>
          <p:nvPr/>
        </p:nvSpPr>
        <p:spPr>
          <a:xfrm>
            <a:off x="611259" y="5894000"/>
            <a:ext cx="10969177" cy="640000"/>
          </a:xfrm>
          <a:prstGeom prst="roundRect">
            <a:avLst>
              <a:gd name="adj" fmla="val 9164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1" name="Strip Card"/>
          <p:cNvSpPr/>
          <p:nvPr/>
        </p:nvSpPr>
        <p:spPr>
          <a:xfrm>
            <a:off x="653127" y="5894000"/>
            <a:ext cx="10927309" cy="640000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02" name="Text 102"/>
          <p:cNvSpPr txBox="1"/>
          <p:nvPr/>
        </p:nvSpPr>
        <p:spPr>
          <a:xfrm>
            <a:off x="870835" y="5894000"/>
            <a:ext cx="10450025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logic: </a:t>
            </a: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buyers deliver the highest margin through D2C, ethical shoppers drive repeat purchases, and B2B contracts add bulk volume and brand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1259" y="485658"/>
            <a:ext cx="753607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COMPETITIVE ADVANTAGE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11259" y="703367"/>
            <a:ext cx="10885442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USP &amp; Competitive Edge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1259" y="1758418"/>
            <a:ext cx="5367360" cy="1716550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3127" y="1758418"/>
            <a:ext cx="5325493" cy="1716550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/>
        </p:spPr>
      </p:sp>
      <p:pic>
        <p:nvPicPr>
          <p:cNvPr id="6" name="Image 0" descr="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02" y="2009620"/>
            <a:ext cx="267949" cy="2679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2702" y="2428291"/>
            <a:ext cx="4772848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Reversible Weave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2702" y="2746481"/>
            <a:ext cx="4772848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Dual-faced double-cloth weave offering two distinct colorways in one single product, doubling utility and letting buyers restyle a room by simply flipping the piece.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3075" y="1758418"/>
            <a:ext cx="5367360" cy="1716550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54943" y="1758418"/>
            <a:ext cx="5325493" cy="1716550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/>
        </p:spPr>
      </p:sp>
      <p:pic>
        <p:nvPicPr>
          <p:cNvPr id="11" name="Image 1" descr="i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18" y="2009620"/>
            <a:ext cx="267949" cy="2679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14518" y="2428291"/>
            <a:ext cx="4772848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Organic &amp; Natural Dyes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14518" y="2746481"/>
            <a:ext cx="4772848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synthetic chemicals; colored exclusively with herbal indigo, madder root red, and turmeric yellow, safe for skin, soil, and the village water supply.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1259" y="3701050"/>
            <a:ext cx="5367360" cy="1716550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127" y="3701050"/>
            <a:ext cx="5325493" cy="1716550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/>
        </p:spPr>
      </p:sp>
      <p:pic>
        <p:nvPicPr>
          <p:cNvPr id="16" name="Image 2" descr="i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702" y="3952253"/>
            <a:ext cx="267949" cy="2679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702" y="4370924"/>
            <a:ext cx="4772848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 Fair Weaver Wages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912702" y="4689114"/>
            <a:ext cx="4772848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cluster sourcing eliminates middle-tier brokers, paying master pit-loom artisans 3× the market average (≈ ₹810/day vs ₹270/day) for dignified, steady work.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3075" y="3701050"/>
            <a:ext cx="5367360" cy="1716550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54943" y="3701050"/>
            <a:ext cx="5325493" cy="1716550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/>
        </p:spPr>
      </p:sp>
      <p:pic>
        <p:nvPicPr>
          <p:cNvPr id="21" name="Image 3" descr="i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518" y="3952253"/>
            <a:ext cx="267949" cy="2679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14518" y="4370924"/>
            <a:ext cx="4772848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Traceability QR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514518" y="4689114"/>
            <a:ext cx="4772848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includes a scannable tag linking to the specific weaver profile, village cluster, and loom location, so buyers see exactly who made it.</a:t>
            </a:r>
            <a:endParaRPr lang="en-US" sz="1300" dirty="0"/>
          </a:p>
        </p:txBody>
      </p:sp>
      <p:sp>
        <p:nvSpPr>
          <p:cNvPr id="100" name="Strip Accent"/>
          <p:cNvSpPr/>
          <p:nvPr/>
        </p:nvSpPr>
        <p:spPr>
          <a:xfrm>
            <a:off x="611259" y="5626000"/>
            <a:ext cx="10969177" cy="640000"/>
          </a:xfrm>
          <a:prstGeom prst="roundRect">
            <a:avLst>
              <a:gd name="adj" fmla="val 9164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1" name="Strip Card"/>
          <p:cNvSpPr/>
          <p:nvPr/>
        </p:nvSpPr>
        <p:spPr>
          <a:xfrm>
            <a:off x="653127" y="5626000"/>
            <a:ext cx="10927309" cy="640000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02" name="Text 102"/>
          <p:cNvSpPr txBox="1"/>
          <p:nvPr/>
        </p:nvSpPr>
        <p:spPr>
          <a:xfrm>
            <a:off x="870835" y="5626000"/>
            <a:ext cx="10450025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 to copy: </a:t>
            </a: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craft, chemical-free colour, fair pay and full traceability give buyers a story that power-loom imitations cannot 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1259" y="485658"/>
            <a:ext cx="753607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BUSINESS &amp; FINANCIAL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11259" y="703367"/>
            <a:ext cx="10885442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Streams &amp; Marginal Profitability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1259" y="1440228"/>
            <a:ext cx="3500088" cy="1942633"/>
          </a:xfrm>
          <a:prstGeom prst="roundRect">
            <a:avLst>
              <a:gd name="adj" fmla="val 5648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1259" y="1482095"/>
            <a:ext cx="3500088" cy="1900766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2462" y="1641190"/>
            <a:ext cx="3014430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2462" y="2126848"/>
            <a:ext cx="3014430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D2C E-Commerce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2462" y="2378050"/>
            <a:ext cx="301443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Revenue Share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2462" y="2629253"/>
            <a:ext cx="301443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online channel reaching the global diaspora and design lovers via our own Shopify storefront.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5803" y="1440228"/>
            <a:ext cx="3500088" cy="1942633"/>
          </a:xfrm>
          <a:prstGeom prst="roundRect">
            <a:avLst>
              <a:gd name="adj" fmla="val 5648"/>
            </a:avLst>
          </a:prstGeom>
          <a:solidFill>
            <a:srgbClr val="D78D46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5803" y="1482095"/>
            <a:ext cx="3500088" cy="1900766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7006" y="1641190"/>
            <a:ext cx="3014430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8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97006" y="2126848"/>
            <a:ext cx="3014430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Wholesale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97006" y="2378050"/>
            <a:ext cx="301443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78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Revenue Share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97006" y="2629253"/>
            <a:ext cx="301443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handicraft stores, luxury multi-brand galleries, and airport pop-ups that build visibility and trust.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0347" y="1440228"/>
            <a:ext cx="3500088" cy="1942633"/>
          </a:xfrm>
          <a:prstGeom prst="roundRect">
            <a:avLst>
              <a:gd name="adj" fmla="val 5648"/>
            </a:avLst>
          </a:prstGeom>
          <a:solidFill>
            <a:srgbClr val="2E4A3E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0347" y="1482095"/>
            <a:ext cx="3500088" cy="1900766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1550" y="1641190"/>
            <a:ext cx="3014430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331550" y="2126848"/>
            <a:ext cx="3014430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8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Hospitality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31550" y="2378050"/>
            <a:ext cx="301443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Share  •  High LTV/CAC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31550" y="2629253"/>
            <a:ext cx="301443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custom supply contracts for luxury eco-resorts, boutique hotels, and design studios, with repeat orders.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1259" y="3583822"/>
            <a:ext cx="6531265" cy="2478531"/>
          </a:xfrm>
          <a:prstGeom prst="roundRect">
            <a:avLst>
              <a:gd name="adj" fmla="val 4427"/>
            </a:avLst>
          </a:prstGeom>
          <a:solidFill>
            <a:srgbClr val="8B2500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127" y="3583822"/>
            <a:ext cx="6489398" cy="2478531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393727" y="3583822"/>
            <a:ext cx="4186709" cy="2478531"/>
          </a:xfrm>
          <a:prstGeom prst="roundRect">
            <a:avLst>
              <a:gd name="adj" fmla="val 4427"/>
            </a:avLst>
          </a:prstGeom>
          <a:solidFill>
            <a:srgbClr val="2E4A3E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35594" y="3583822"/>
            <a:ext cx="4144841" cy="2478531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7582" y="3734544"/>
            <a:ext cx="5861392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 Profit by Channel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7582" y="4069481"/>
          <a:ext cx="5978620" cy="1406736"/>
        </p:xfrm>
        <a:graphic>
          <a:graphicData uri="http://schemas.openxmlformats.org/drawingml/2006/table">
            <a:tbl>
              <a:tblPr/>
              <a:tblGrid>
                <a:gridCol w="2093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8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D2C E-Commerce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8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Wholesale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8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margin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887582" y="5610189"/>
            <a:ext cx="597862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= revenue share × margin. Benchmarks: branded D2C handicraft margin 60–70%; wholesale markup 1.5–2× (≈33–50% margin).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70050" y="3734544"/>
            <a:ext cx="3684303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E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Wages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670050" y="4136468"/>
            <a:ext cx="1674683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₹270</a:t>
            </a:r>
            <a:endParaRPr lang="en-US" sz="3400" dirty="0"/>
          </a:p>
        </p:txBody>
      </p:sp>
      <p:sp>
        <p:nvSpPr>
          <p:cNvPr id="31" name="Text 28"/>
          <p:cNvSpPr txBox="1"/>
          <p:nvPr/>
        </p:nvSpPr>
        <p:spPr>
          <a:xfrm>
            <a:off x="9210759" y="4203455"/>
            <a:ext cx="2177088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average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670050" y="4705860"/>
            <a:ext cx="1674683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₹810</a:t>
            </a:r>
            <a:endParaRPr lang="en-US" sz="3400" dirty="0"/>
          </a:p>
        </p:txBody>
      </p:sp>
      <p:sp>
        <p:nvSpPr>
          <p:cNvPr id="33" name="Text 30"/>
          <p:cNvSpPr txBox="1"/>
          <p:nvPr/>
        </p:nvSpPr>
        <p:spPr>
          <a:xfrm>
            <a:off x="9210759" y="4772848"/>
            <a:ext cx="2260823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Khes master artisan (3×)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670050" y="5459468"/>
            <a:ext cx="3684303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+₹540 per day above market average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C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steady income to keep pit-looms alive.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11259" y="6263316"/>
            <a:ext cx="1096917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Crafts Council of India &amp; Institute for Human Development, Economics of Indian Craft (2026); EPCH, Building Your Brand; Shriram Finance.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41" y="0"/>
            <a:ext cx="4739354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1259" y="1674683"/>
            <a:ext cx="5861392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VAULT 2026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11259" y="1967753"/>
            <a:ext cx="6363797" cy="167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Weave the Future of Punjab’s Heritage Together.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11259" y="3868519"/>
            <a:ext cx="4689114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0B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pit-loom craftsmanship while delivering sustainable luxury to global households and fair livelihoods to weavers.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1259" y="4655620"/>
            <a:ext cx="6204702" cy="0"/>
          </a:xfrm>
          <a:prstGeom prst="line">
            <a:avLst/>
          </a:prstGeom>
          <a:noFill/>
          <a:ln w="9525">
            <a:solidFill>
              <a:srgbClr val="8A8A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259" y="4856582"/>
            <a:ext cx="5024050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&amp; Questions!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11259" y="5107784"/>
            <a:ext cx="5861392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Khes  •  Geometric Luxury Handlooms  •  Heritage, Reinvented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687</Words>
  <Application>Microsoft Office PowerPoint</Application>
  <PresentationFormat>Widescreen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kumar</cp:lastModifiedBy>
  <cp:revision>3</cp:revision>
  <dcterms:created xsi:type="dcterms:W3CDTF">2026-10-21T15:22:07Z</dcterms:created>
  <dcterms:modified xsi:type="dcterms:W3CDTF">2026-10-21T15:28:58Z</dcterms:modified>
</cp:coreProperties>
</file>